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费用(元)</c:v>
                </c:pt>
              </c:strCache>
            </c:strRef>
          </c:tx>
          <c:spPr>
            <a:solidFill>
              <a:srgbClr val="555AFF"/>
            </a:solidFill>
            <a:ln w="38100" cap="flat">
              <a:solidFill>
                <a:srgbClr val="555A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AFF"/>
              </a:solidFill>
              <a:ln w="9525" cap="flat">
                <a:solidFill>
                  <a:srgbClr val="555A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30</c:v>
                  </c:pt>
                  <c:pt idx="1">
                    <c:v>40</c:v>
                  </c:pt>
                  <c:pt idx="2">
                    <c:v>50</c:v>
                  </c:pt>
                  <c:pt idx="3">
                    <c:v>60</c:v>
                  </c:pt>
                  <c:pt idx="4">
                    <c:v>70</c:v>
                  </c:pt>
                  <c:pt idx="5">
                    <c:v>80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6.5</c:v>
                </c:pt>
                <c:pt idx="2">
                  <c:v>11.5</c:v>
                </c:pt>
                <c:pt idx="3">
                  <c:v>16.5</c:v>
                </c:pt>
                <c:pt idx="4">
                  <c:v>21.5</c:v>
                </c:pt>
                <c:pt idx="5">
                  <c:v>26.5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D9DA9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D9DA9"/>
                    </a:solidFill>
                    <a:latin typeface="Arial"/>
                  </a:rPr>
                  <a:t>时间/分钟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4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4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54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098" cy="201168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10" y="0"/>
            <a:ext cx="780098" cy="201168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4" name="Shape 2"/>
          <p:cNvSpPr/>
          <p:nvPr/>
        </p:nvSpPr>
        <p:spPr>
          <a:xfrm>
            <a:off x="1523619" y="0"/>
            <a:ext cx="780098" cy="201168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5429" y="0"/>
            <a:ext cx="780098" cy="201168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0"/>
            <a:ext cx="780098" cy="201168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7" name="Shape 5"/>
          <p:cNvSpPr/>
          <p:nvPr/>
        </p:nvSpPr>
        <p:spPr>
          <a:xfrm>
            <a:off x="3809048" y="0"/>
            <a:ext cx="780098" cy="201168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0857" y="0"/>
            <a:ext cx="780098" cy="201168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9" name="Shape 7"/>
          <p:cNvSpPr/>
          <p:nvPr/>
        </p:nvSpPr>
        <p:spPr>
          <a:xfrm>
            <a:off x="5332667" y="0"/>
            <a:ext cx="780098" cy="201168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780098" cy="201168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6286" y="0"/>
            <a:ext cx="780098" cy="201168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8095" y="0"/>
            <a:ext cx="780098" cy="201168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9905" y="0"/>
            <a:ext cx="780098" cy="201168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1714" y="0"/>
            <a:ext cx="780098" cy="201168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3524" y="0"/>
            <a:ext cx="780098" cy="201168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5333" y="0"/>
            <a:ext cx="780098" cy="201168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7143" y="0"/>
            <a:ext cx="780098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656832"/>
            <a:ext cx="780098" cy="201168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61810" y="6656832"/>
            <a:ext cx="780098" cy="201168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523619" y="6656832"/>
            <a:ext cx="780098" cy="201168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5429" y="6656832"/>
            <a:ext cx="780098" cy="201168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7238" y="6656832"/>
            <a:ext cx="780098" cy="201168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809048" y="6656832"/>
            <a:ext cx="780098" cy="201168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0857" y="6656832"/>
            <a:ext cx="780098" cy="201168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332667" y="6656832"/>
            <a:ext cx="780098" cy="201168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4476" y="6656832"/>
            <a:ext cx="780098" cy="201168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6286" y="6656832"/>
            <a:ext cx="780098" cy="201168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618095" y="6656832"/>
            <a:ext cx="780098" cy="201168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379905" y="6656832"/>
            <a:ext cx="780098" cy="201168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1714" y="6656832"/>
            <a:ext cx="780098" cy="201168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903524" y="6656832"/>
            <a:ext cx="780098" cy="201168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65333" y="6656832"/>
            <a:ext cx="780098" cy="201168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27143" y="6656832"/>
            <a:ext cx="780098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5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InnoAgent · 教学工程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22860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《一次函数》教学课件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9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基于核心素养导向的课堂设计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8640" y="4663440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555A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663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初中数学 · 数与代数领域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098" cy="146304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10" y="0"/>
            <a:ext cx="780098" cy="146304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4" name="Shape 2"/>
          <p:cNvSpPr/>
          <p:nvPr/>
        </p:nvSpPr>
        <p:spPr>
          <a:xfrm>
            <a:off x="1523619" y="0"/>
            <a:ext cx="780098" cy="146304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5429" y="0"/>
            <a:ext cx="780098" cy="146304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0"/>
            <a:ext cx="780098" cy="146304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7" name="Shape 5"/>
          <p:cNvSpPr/>
          <p:nvPr/>
        </p:nvSpPr>
        <p:spPr>
          <a:xfrm>
            <a:off x="3809048" y="0"/>
            <a:ext cx="780098" cy="146304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0857" y="0"/>
            <a:ext cx="780098" cy="146304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9" name="Shape 7"/>
          <p:cNvSpPr/>
          <p:nvPr/>
        </p:nvSpPr>
        <p:spPr>
          <a:xfrm>
            <a:off x="5332667" y="0"/>
            <a:ext cx="780098" cy="146304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780098" cy="146304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6286" y="0"/>
            <a:ext cx="780098" cy="146304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8095" y="0"/>
            <a:ext cx="780098" cy="146304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9905" y="0"/>
            <a:ext cx="780098" cy="146304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1714" y="0"/>
            <a:ext cx="780098" cy="146304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3524" y="0"/>
            <a:ext cx="780098" cy="146304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5333" y="0"/>
            <a:ext cx="780098" cy="146304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7143" y="0"/>
            <a:ext cx="780098" cy="14630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55A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 · LEARNING OBJECTIVES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本节课要达成什么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" y="1828800"/>
            <a:ext cx="6583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能从现实情境中抽象出一次函数关系，理解 y = kx + b 的意义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会画一次函数图象，并说出 k、b 对图象的影响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能用待定系数法求解析式，规范书写运算步骤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能用一次函数模型解决简单实际问题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80960" y="1783080"/>
            <a:ext cx="3931920" cy="3886200"/>
          </a:xfrm>
          <a:prstGeom prst="roundRect">
            <a:avLst>
              <a:gd name="adj" fmla="val 2353"/>
            </a:avLst>
          </a:prstGeom>
          <a:solidFill>
            <a:srgbClr val="EDEEFF"/>
          </a:solidFill>
          <a:ln w="12700">
            <a:solidFill>
              <a:srgbClr val="E5E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对应核心素养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0" y="260604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555A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752344"/>
            <a:ext cx="201168" cy="201168"/>
          </a:xfrm>
          <a:prstGeom prst="ellipse">
            <a:avLst/>
          </a:prstGeom>
          <a:solidFill>
            <a:srgbClr val="555A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抽象能力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5280" y="329184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7C5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343814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几何直观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55280" y="397764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555A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123944"/>
            <a:ext cx="201168" cy="201168"/>
          </a:xfrm>
          <a:prstGeom prst="ellipse">
            <a:avLst/>
          </a:prstGeom>
          <a:solidFill>
            <a:srgbClr val="555AFF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运算能力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955280" y="4663440"/>
            <a:ext cx="33832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7C5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38160" y="4809744"/>
            <a:ext cx="201168" cy="201168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模型观念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InnoAgent · 教学工程演示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098" cy="146304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10" y="0"/>
            <a:ext cx="780098" cy="146304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4" name="Shape 2"/>
          <p:cNvSpPr/>
          <p:nvPr/>
        </p:nvSpPr>
        <p:spPr>
          <a:xfrm>
            <a:off x="1523619" y="0"/>
            <a:ext cx="780098" cy="146304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5429" y="0"/>
            <a:ext cx="780098" cy="146304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0"/>
            <a:ext cx="780098" cy="146304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7" name="Shape 5"/>
          <p:cNvSpPr/>
          <p:nvPr/>
        </p:nvSpPr>
        <p:spPr>
          <a:xfrm>
            <a:off x="3809048" y="0"/>
            <a:ext cx="780098" cy="146304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0857" y="0"/>
            <a:ext cx="780098" cy="146304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9" name="Shape 7"/>
          <p:cNvSpPr/>
          <p:nvPr/>
        </p:nvSpPr>
        <p:spPr>
          <a:xfrm>
            <a:off x="5332667" y="0"/>
            <a:ext cx="780098" cy="146304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780098" cy="146304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6286" y="0"/>
            <a:ext cx="780098" cy="146304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8095" y="0"/>
            <a:ext cx="780098" cy="146304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9905" y="0"/>
            <a:ext cx="780098" cy="146304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1714" y="0"/>
            <a:ext cx="780098" cy="146304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3524" y="0"/>
            <a:ext cx="780098" cy="146304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5333" y="0"/>
            <a:ext cx="780098" cy="146304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7143" y="0"/>
            <a:ext cx="780098" cy="14630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55A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情境导入 ·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从共享单车计费说起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874520"/>
            <a:ext cx="55778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219456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某共享单车：起步价 1.5 元（前 30 分钟），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此后每分钟 0.5 元。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555A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骑行时间越长，费用怎样变化？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费用 y 随时间 x 变化</a:t>
            </a:r>
            <a:endParaRPr lang="en-US" sz="13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0" y="22860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InnoAgent · 教学工程演示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098" cy="146304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10" y="0"/>
            <a:ext cx="780098" cy="146304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4" name="Shape 2"/>
          <p:cNvSpPr/>
          <p:nvPr/>
        </p:nvSpPr>
        <p:spPr>
          <a:xfrm>
            <a:off x="1523619" y="0"/>
            <a:ext cx="780098" cy="146304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5429" y="0"/>
            <a:ext cx="780098" cy="146304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0"/>
            <a:ext cx="780098" cy="146304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7" name="Shape 5"/>
          <p:cNvSpPr/>
          <p:nvPr/>
        </p:nvSpPr>
        <p:spPr>
          <a:xfrm>
            <a:off x="3809048" y="0"/>
            <a:ext cx="780098" cy="146304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0857" y="0"/>
            <a:ext cx="780098" cy="146304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9" name="Shape 7"/>
          <p:cNvSpPr/>
          <p:nvPr/>
        </p:nvSpPr>
        <p:spPr>
          <a:xfrm>
            <a:off x="5332667" y="0"/>
            <a:ext cx="780098" cy="146304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780098" cy="146304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6286" y="0"/>
            <a:ext cx="780098" cy="146304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8095" y="0"/>
            <a:ext cx="780098" cy="146304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9905" y="0"/>
            <a:ext cx="780098" cy="146304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1714" y="0"/>
            <a:ext cx="780098" cy="146304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3524" y="0"/>
            <a:ext cx="780098" cy="146304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5333" y="0"/>
            <a:ext cx="780098" cy="146304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7143" y="0"/>
            <a:ext cx="780098" cy="14630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55A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核心概念 · CONCEPT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什么是一次函数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18745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DEEFF"/>
          </a:solidFill>
          <a:ln w="12700">
            <a:solidFill>
              <a:srgbClr val="E5E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1874520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一般地，形如 </a:t>
            </a:r>
            <a:pPr indent="0" marL="0">
              <a:buNone/>
            </a:pPr>
            <a:r>
              <a:rPr lang="en-US" sz="2000" b="1" dirty="0">
                <a:solidFill>
                  <a:srgbClr val="555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kx + b</a:t>
            </a:r>
            <a:pPr indent="0" marL="0">
              <a:buNone/>
            </a:pPr>
            <a:r>
              <a:rPr lang="en-US" sz="20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（k、b 为常数，k ≠ 0）的函数，叫做一次函数。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351434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11880"/>
            <a:ext cx="91440" cy="1920240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7947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5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≠ 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一次项系数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8463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决定倾斜方向与快慢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37304" y="3611880"/>
            <a:ext cx="351434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37304" y="3611880"/>
            <a:ext cx="91440" cy="1920240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65904" y="37947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565904" y="448056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常数项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65904" y="48463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图象与 y 轴交点 (0, b)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5968" y="3611880"/>
            <a:ext cx="351434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25968" y="3611880"/>
            <a:ext cx="91440" cy="1920240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4" name="Text 32"/>
          <p:cNvSpPr/>
          <p:nvPr/>
        </p:nvSpPr>
        <p:spPr>
          <a:xfrm>
            <a:off x="8354568" y="37947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5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354568" y="4480560"/>
            <a:ext cx="3148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正比例函数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54568" y="4846320"/>
            <a:ext cx="3148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= kx 是特殊的一次函数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InnoAgent · 教学工程演示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098" cy="146304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10" y="0"/>
            <a:ext cx="780098" cy="146304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4" name="Shape 2"/>
          <p:cNvSpPr/>
          <p:nvPr/>
        </p:nvSpPr>
        <p:spPr>
          <a:xfrm>
            <a:off x="1523619" y="0"/>
            <a:ext cx="780098" cy="146304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5429" y="0"/>
            <a:ext cx="780098" cy="146304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0"/>
            <a:ext cx="780098" cy="146304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7" name="Shape 5"/>
          <p:cNvSpPr/>
          <p:nvPr/>
        </p:nvSpPr>
        <p:spPr>
          <a:xfrm>
            <a:off x="3809048" y="0"/>
            <a:ext cx="780098" cy="146304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0857" y="0"/>
            <a:ext cx="780098" cy="146304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9" name="Shape 7"/>
          <p:cNvSpPr/>
          <p:nvPr/>
        </p:nvSpPr>
        <p:spPr>
          <a:xfrm>
            <a:off x="5332667" y="0"/>
            <a:ext cx="780098" cy="146304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780098" cy="146304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6286" y="0"/>
            <a:ext cx="780098" cy="146304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8095" y="0"/>
            <a:ext cx="780098" cy="146304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9905" y="0"/>
            <a:ext cx="780098" cy="146304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1714" y="0"/>
            <a:ext cx="780098" cy="146304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3524" y="0"/>
            <a:ext cx="780098" cy="146304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5333" y="0"/>
            <a:ext cx="780098" cy="146304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7143" y="0"/>
            <a:ext cx="780098" cy="14630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55A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例题探究 · INQUIRY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用待定系数法求解析式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28039" y="2468880"/>
            <a:ext cx="640080" cy="640080"/>
          </a:xfrm>
          <a:prstGeom prst="ellipse">
            <a:avLst/>
          </a:prstGeom>
          <a:solidFill>
            <a:srgbClr val="555A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039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读情境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" y="3703320"/>
            <a:ext cx="1779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找出两组对应值 (x, y)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821838" y="219456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01238" y="2468880"/>
            <a:ext cx="640080" cy="64008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27" name="Text 25"/>
          <p:cNvSpPr/>
          <p:nvPr/>
        </p:nvSpPr>
        <p:spPr>
          <a:xfrm>
            <a:off x="350123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913278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设模型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931566" y="3703320"/>
            <a:ext cx="1779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 y = kx + 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95037" y="219456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74436" y="2468880"/>
            <a:ext cx="640080" cy="640080"/>
          </a:xfrm>
          <a:prstGeom prst="ellipse">
            <a:avLst/>
          </a:prstGeom>
          <a:solidFill>
            <a:srgbClr val="555AFF"/>
          </a:solidFill>
          <a:ln/>
        </p:spPr>
      </p:sp>
      <p:sp>
        <p:nvSpPr>
          <p:cNvPr id="32" name="Text 30"/>
          <p:cNvSpPr/>
          <p:nvPr/>
        </p:nvSpPr>
        <p:spPr>
          <a:xfrm>
            <a:off x="577443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86477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列方程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04765" y="3703320"/>
            <a:ext cx="1779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代入两点得方程组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368235" y="219456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7634" y="2468880"/>
            <a:ext cx="640080" cy="64008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37" name="Text 35"/>
          <p:cNvSpPr/>
          <p:nvPr/>
        </p:nvSpPr>
        <p:spPr>
          <a:xfrm>
            <a:off x="804763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59675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解方程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77963" y="3703320"/>
            <a:ext cx="1779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求出 k、b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41434" y="2194560"/>
            <a:ext cx="1998878" cy="2743200"/>
          </a:xfrm>
          <a:prstGeom prst="roundRect">
            <a:avLst>
              <a:gd name="adj" fmla="val 3660"/>
            </a:avLst>
          </a:prstGeom>
          <a:solidFill>
            <a:srgbClr val="FFFFFF"/>
          </a:solidFill>
          <a:ln w="12700">
            <a:solidFill>
              <a:srgbClr val="E5E4F4"/>
            </a:solidFill>
            <a:prstDash val="solid"/>
          </a:ln>
          <a:effectLst>
            <a:outerShdw sx="100000" sy="100000" kx="0" ky="0" algn="bl" rotWithShape="0" blurRad="127000" dist="38100" dir="8100000">
              <a:srgbClr val="555AFF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320833" y="2468880"/>
            <a:ext cx="640080" cy="640080"/>
          </a:xfrm>
          <a:prstGeom prst="ellipse">
            <a:avLst/>
          </a:prstGeom>
          <a:solidFill>
            <a:srgbClr val="555A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320833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732874" y="3246120"/>
            <a:ext cx="1815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反思迁移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751162" y="3703320"/>
            <a:ext cx="17794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54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回代检验并解释含义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InnoAgent · 教学工程演示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0098" cy="146304"/>
          </a:xfrm>
          <a:prstGeom prst="rect">
            <a:avLst/>
          </a:prstGeom>
          <a:solidFill>
            <a:srgbClr val="555A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810" y="0"/>
            <a:ext cx="780098" cy="146304"/>
          </a:xfrm>
          <a:prstGeom prst="rect">
            <a:avLst/>
          </a:prstGeom>
          <a:solidFill>
            <a:srgbClr val="585AFF"/>
          </a:solidFill>
          <a:ln/>
        </p:spPr>
      </p:sp>
      <p:sp>
        <p:nvSpPr>
          <p:cNvPr id="4" name="Shape 2"/>
          <p:cNvSpPr/>
          <p:nvPr/>
        </p:nvSpPr>
        <p:spPr>
          <a:xfrm>
            <a:off x="1523619" y="0"/>
            <a:ext cx="780098" cy="146304"/>
          </a:xfrm>
          <a:prstGeom prst="rect">
            <a:avLst/>
          </a:prstGeom>
          <a:solidFill>
            <a:srgbClr val="5A5A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5429" y="0"/>
            <a:ext cx="780098" cy="146304"/>
          </a:xfrm>
          <a:prstGeom prst="rect">
            <a:avLst/>
          </a:prstGeom>
          <a:solidFill>
            <a:srgbClr val="5D5AFF"/>
          </a:solidFill>
          <a:ln/>
        </p:spPr>
      </p:sp>
      <p:sp>
        <p:nvSpPr>
          <p:cNvPr id="6" name="Shape 4"/>
          <p:cNvSpPr/>
          <p:nvPr/>
        </p:nvSpPr>
        <p:spPr>
          <a:xfrm>
            <a:off x="3047238" y="0"/>
            <a:ext cx="780098" cy="146304"/>
          </a:xfrm>
          <a:prstGeom prst="rect">
            <a:avLst/>
          </a:prstGeom>
          <a:solidFill>
            <a:srgbClr val="5F5BFF"/>
          </a:solidFill>
          <a:ln/>
        </p:spPr>
      </p:sp>
      <p:sp>
        <p:nvSpPr>
          <p:cNvPr id="7" name="Shape 5"/>
          <p:cNvSpPr/>
          <p:nvPr/>
        </p:nvSpPr>
        <p:spPr>
          <a:xfrm>
            <a:off x="3809048" y="0"/>
            <a:ext cx="780098" cy="146304"/>
          </a:xfrm>
          <a:prstGeom prst="rect">
            <a:avLst/>
          </a:prstGeom>
          <a:solidFill>
            <a:srgbClr val="625B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0857" y="0"/>
            <a:ext cx="780098" cy="146304"/>
          </a:xfrm>
          <a:prstGeom prst="rect">
            <a:avLst/>
          </a:prstGeom>
          <a:solidFill>
            <a:srgbClr val="655BFF"/>
          </a:solidFill>
          <a:ln/>
        </p:spPr>
      </p:sp>
      <p:sp>
        <p:nvSpPr>
          <p:cNvPr id="9" name="Shape 7"/>
          <p:cNvSpPr/>
          <p:nvPr/>
        </p:nvSpPr>
        <p:spPr>
          <a:xfrm>
            <a:off x="5332667" y="0"/>
            <a:ext cx="780098" cy="146304"/>
          </a:xfrm>
          <a:prstGeom prst="rect">
            <a:avLst/>
          </a:prstGeom>
          <a:solidFill>
            <a:srgbClr val="675B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4476" y="0"/>
            <a:ext cx="780098" cy="146304"/>
          </a:xfrm>
          <a:prstGeom prst="rect">
            <a:avLst/>
          </a:prstGeom>
          <a:solidFill>
            <a:srgbClr val="6A5B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6286" y="0"/>
            <a:ext cx="780098" cy="146304"/>
          </a:xfrm>
          <a:prstGeom prst="rect">
            <a:avLst/>
          </a:prstGeom>
          <a:solidFill>
            <a:srgbClr val="6C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8095" y="0"/>
            <a:ext cx="780098" cy="146304"/>
          </a:xfrm>
          <a:prstGeom prst="rect">
            <a:avLst/>
          </a:prstGeom>
          <a:solidFill>
            <a:srgbClr val="6F5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9905" y="0"/>
            <a:ext cx="780098" cy="146304"/>
          </a:xfrm>
          <a:prstGeom prst="rect">
            <a:avLst/>
          </a:prstGeom>
          <a:solidFill>
            <a:srgbClr val="725B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1714" y="0"/>
            <a:ext cx="780098" cy="146304"/>
          </a:xfrm>
          <a:prstGeom prst="rect">
            <a:avLst/>
          </a:prstGeom>
          <a:solidFill>
            <a:srgbClr val="745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3524" y="0"/>
            <a:ext cx="780098" cy="146304"/>
          </a:xfrm>
          <a:prstGeom prst="rect">
            <a:avLst/>
          </a:prstGeom>
          <a:solidFill>
            <a:srgbClr val="77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65333" y="0"/>
            <a:ext cx="780098" cy="146304"/>
          </a:xfrm>
          <a:prstGeom prst="rect">
            <a:avLst/>
          </a:prstGeom>
          <a:solidFill>
            <a:srgbClr val="795C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27143" y="0"/>
            <a:ext cx="780098" cy="146304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55A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 ·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这节课我们收获了什么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" y="1920240"/>
            <a:ext cx="6766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概念：y = kx + b（k ≠ 0）是一次函数，b = 0 时为正比例函数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图象：一条直线，k 定斜向、b 定截距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7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方法：待定系数法——设、代、解、验四步</a:t>
            </a:r>
            <a:endParaRPr lang="en-US" sz="1700" dirty="0"/>
          </a:p>
          <a:p>
            <a:pPr marL="342900" indent="-342900">
              <a:buSzPct val="100000"/>
              <a:buChar char="✓"/>
            </a:pPr>
            <a:r>
              <a:rPr lang="en-US" sz="1700" dirty="0">
                <a:solidFill>
                  <a:srgbClr val="1919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应用：把实际问题抽象成一次函数模型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0" y="192024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191922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下节预告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2697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一次函数与一元一次方程、不等式的关系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InnoAgent · 教学工程演示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《一次函数》教学课件（InnoSpark 母版）</dc:title>
  <dc:subject>PptxGenJS Presentation</dc:subject>
  <dc:creator>InnoAgent</dc:creator>
  <cp:lastModifiedBy>InnoAgent</cp:lastModifiedBy>
  <cp:revision>1</cp:revision>
  <dcterms:created xsi:type="dcterms:W3CDTF">2026-07-13T07:57:01Z</dcterms:created>
  <dcterms:modified xsi:type="dcterms:W3CDTF">2026-07-13T07:57:01Z</dcterms:modified>
</cp:coreProperties>
</file>